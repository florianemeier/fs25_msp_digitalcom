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25"/>
  </p:notesMasterIdLst>
  <p:handoutMasterIdLst>
    <p:handoutMasterId r:id="rId26"/>
  </p:handoutMasterIdLst>
  <p:sldIdLst>
    <p:sldId id="2147472796" r:id="rId5"/>
    <p:sldId id="298" r:id="rId6"/>
    <p:sldId id="2147472670" r:id="rId7"/>
    <p:sldId id="301" r:id="rId8"/>
    <p:sldId id="292" r:id="rId9"/>
    <p:sldId id="2147472797" r:id="rId10"/>
    <p:sldId id="2147472799" r:id="rId11"/>
    <p:sldId id="2147472798" r:id="rId12"/>
    <p:sldId id="2147472800" r:id="rId13"/>
    <p:sldId id="2147472801" r:id="rId14"/>
    <p:sldId id="2147472802" r:id="rId15"/>
    <p:sldId id="2147472803" r:id="rId16"/>
    <p:sldId id="2147472807" r:id="rId17"/>
    <p:sldId id="2147472812" r:id="rId18"/>
    <p:sldId id="2147472813" r:id="rId19"/>
    <p:sldId id="2147472804" r:id="rId20"/>
    <p:sldId id="2147472805" r:id="rId21"/>
    <p:sldId id="2147472808" r:id="rId22"/>
    <p:sldId id="2147472810" r:id="rId23"/>
    <p:sldId id="2147472806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70E"/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CE582-5BA5-4FB2-9BCA-EBC728FB82BF}" v="3" dt="2025-05-26T06:44:48.327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807" autoAdjust="0"/>
  </p:normalViewPr>
  <p:slideViewPr>
    <p:cSldViewPr showGuides="1">
      <p:cViewPr varScale="1">
        <p:scale>
          <a:sx n="157" d="100"/>
          <a:sy n="157" d="100"/>
        </p:scale>
        <p:origin x="440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7" d="100"/>
          <a:sy n="107" d="100"/>
        </p:scale>
        <p:origin x="5259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eu Coustans" userId="e8619a91-88a5-4906-b918-1d2303beb8f3" providerId="ADAL" clId="{E484BBEB-414B-4B5C-B3BA-1C280C9C4CA5}"/>
    <pc:docChg chg="custSel modSld">
      <pc:chgData name="Mathieu Coustans" userId="e8619a91-88a5-4906-b918-1d2303beb8f3" providerId="ADAL" clId="{E484BBEB-414B-4B5C-B3BA-1C280C9C4CA5}" dt="2025-05-07T12:47:51.045" v="9" actId="20577"/>
      <pc:docMkLst>
        <pc:docMk/>
      </pc:docMkLst>
      <pc:sldChg chg="addSp modSp mod">
        <pc:chgData name="Mathieu Coustans" userId="e8619a91-88a5-4906-b918-1d2303beb8f3" providerId="ADAL" clId="{E484BBEB-414B-4B5C-B3BA-1C280C9C4CA5}" dt="2025-05-07T12:47:51.045" v="9" actId="20577"/>
        <pc:sldMkLst>
          <pc:docMk/>
          <pc:sldMk cId="246504645" sldId="298"/>
        </pc:sldMkLst>
        <pc:spChg chg="mod">
          <ac:chgData name="Mathieu Coustans" userId="e8619a91-88a5-4906-b918-1d2303beb8f3" providerId="ADAL" clId="{E484BBEB-414B-4B5C-B3BA-1C280C9C4CA5}" dt="2025-05-07T12:47:51.045" v="9" actId="20577"/>
          <ac:spMkLst>
            <pc:docMk/>
            <pc:sldMk cId="246504645" sldId="298"/>
            <ac:spMk id="2" creationId="{053ADAF5-4807-68FF-4D40-65438BF62A11}"/>
          </ac:spMkLst>
        </pc:spChg>
        <pc:spChg chg="mod">
          <ac:chgData name="Mathieu Coustans" userId="e8619a91-88a5-4906-b918-1d2303beb8f3" providerId="ADAL" clId="{E484BBEB-414B-4B5C-B3BA-1C280C9C4CA5}" dt="2025-05-07T12:47:46.318" v="7" actId="20577"/>
          <ac:spMkLst>
            <pc:docMk/>
            <pc:sldMk cId="246504645" sldId="298"/>
            <ac:spMk id="6" creationId="{9070260B-CF47-66A4-FC11-39A8B8E6AC93}"/>
          </ac:spMkLst>
        </pc:spChg>
        <pc:spChg chg="mod">
          <ac:chgData name="Mathieu Coustans" userId="e8619a91-88a5-4906-b918-1d2303beb8f3" providerId="ADAL" clId="{E484BBEB-414B-4B5C-B3BA-1C280C9C4CA5}" dt="2025-05-07T12:40:46.693" v="4" actId="20577"/>
          <ac:spMkLst>
            <pc:docMk/>
            <pc:sldMk cId="246504645" sldId="298"/>
            <ac:spMk id="8" creationId="{B99FC38A-260C-7A9B-B4EB-E0CE4802842E}"/>
          </ac:spMkLst>
        </pc:spChg>
      </pc:sldChg>
    </pc:docChg>
  </pc:docChgLst>
  <pc:docChgLst>
    <pc:chgData name="Mathieu Coustans" userId="e8619a91-88a5-4906-b918-1d2303beb8f3" providerId="ADAL" clId="{48ACE582-5BA5-4FB2-9BCA-EBC728FB82BF}"/>
    <pc:docChg chg="undo custSel addSld modSld sldOrd">
      <pc:chgData name="Mathieu Coustans" userId="e8619a91-88a5-4906-b918-1d2303beb8f3" providerId="ADAL" clId="{48ACE582-5BA5-4FB2-9BCA-EBC728FB82BF}" dt="2025-05-26T06:44:48.327" v="67"/>
      <pc:docMkLst>
        <pc:docMk/>
      </pc:docMkLst>
      <pc:sldChg chg="addSp delSp modSp mod">
        <pc:chgData name="Mathieu Coustans" userId="e8619a91-88a5-4906-b918-1d2303beb8f3" providerId="ADAL" clId="{48ACE582-5BA5-4FB2-9BCA-EBC728FB82BF}" dt="2025-05-26T06:44:48.327" v="67"/>
        <pc:sldMkLst>
          <pc:docMk/>
          <pc:sldMk cId="246504645" sldId="298"/>
        </pc:sldMkLst>
        <pc:spChg chg="del">
          <ac:chgData name="Mathieu Coustans" userId="e8619a91-88a5-4906-b918-1d2303beb8f3" providerId="ADAL" clId="{48ACE582-5BA5-4FB2-9BCA-EBC728FB82BF}" dt="2025-05-26T06:44:48.327" v="67"/>
          <ac:spMkLst>
            <pc:docMk/>
            <pc:sldMk cId="246504645" sldId="298"/>
            <ac:spMk id="5" creationId="{4D5D026F-2392-DC1E-84B9-086F35D8A282}"/>
          </ac:spMkLst>
        </pc:spChg>
        <pc:spChg chg="mod">
          <ac:chgData name="Mathieu Coustans" userId="e8619a91-88a5-4906-b918-1d2303beb8f3" providerId="ADAL" clId="{48ACE582-5BA5-4FB2-9BCA-EBC728FB82BF}" dt="2025-05-26T06:41:47.190" v="26" actId="20577"/>
          <ac:spMkLst>
            <pc:docMk/>
            <pc:sldMk cId="246504645" sldId="298"/>
            <ac:spMk id="6" creationId="{9070260B-CF47-66A4-FC11-39A8B8E6AC93}"/>
          </ac:spMkLst>
        </pc:spChg>
        <pc:spChg chg="mod">
          <ac:chgData name="Mathieu Coustans" userId="e8619a91-88a5-4906-b918-1d2303beb8f3" providerId="ADAL" clId="{48ACE582-5BA5-4FB2-9BCA-EBC728FB82BF}" dt="2025-05-26T06:41:41.977" v="15" actId="20577"/>
          <ac:spMkLst>
            <pc:docMk/>
            <pc:sldMk cId="246504645" sldId="298"/>
            <ac:spMk id="7" creationId="{C878F171-5CBB-F640-B0CE-CE00CC1579DB}"/>
          </ac:spMkLst>
        </pc:spChg>
        <pc:spChg chg="mod">
          <ac:chgData name="Mathieu Coustans" userId="e8619a91-88a5-4906-b918-1d2303beb8f3" providerId="ADAL" clId="{48ACE582-5BA5-4FB2-9BCA-EBC728FB82BF}" dt="2025-05-26T06:44:37.219" v="66" actId="20577"/>
          <ac:spMkLst>
            <pc:docMk/>
            <pc:sldMk cId="246504645" sldId="298"/>
            <ac:spMk id="8" creationId="{B99FC38A-260C-7A9B-B4EB-E0CE4802842E}"/>
          </ac:spMkLst>
        </pc:spChg>
        <pc:picChg chg="add mod">
          <ac:chgData name="Mathieu Coustans" userId="e8619a91-88a5-4906-b918-1d2303beb8f3" providerId="ADAL" clId="{48ACE582-5BA5-4FB2-9BCA-EBC728FB82BF}" dt="2025-05-26T06:44:48.327" v="67"/>
          <ac:picMkLst>
            <pc:docMk/>
            <pc:sldMk cId="246504645" sldId="298"/>
            <ac:picMk id="9" creationId="{E20AF595-AEB1-03C8-4CE7-938F5F4D7FA8}"/>
          </ac:picMkLst>
        </pc:picChg>
        <pc:picChg chg="del">
          <ac:chgData name="Mathieu Coustans" userId="e8619a91-88a5-4906-b918-1d2303beb8f3" providerId="ADAL" clId="{48ACE582-5BA5-4FB2-9BCA-EBC728FB82BF}" dt="2025-05-26T06:41:33.867" v="0" actId="478"/>
          <ac:picMkLst>
            <pc:docMk/>
            <pc:sldMk cId="246504645" sldId="298"/>
            <ac:picMk id="1026" creationId="{20ADDE47-C705-7809-6EBA-CF37C7FD4743}"/>
          </ac:picMkLst>
        </pc:picChg>
      </pc:sldChg>
      <pc:sldChg chg="modSp add mod ord modShow">
        <pc:chgData name="Mathieu Coustans" userId="e8619a91-88a5-4906-b918-1d2303beb8f3" providerId="ADAL" clId="{48ACE582-5BA5-4FB2-9BCA-EBC728FB82BF}" dt="2025-05-26T06:43:23.361" v="51" actId="729"/>
        <pc:sldMkLst>
          <pc:docMk/>
          <pc:sldMk cId="2694949735" sldId="2147472796"/>
        </pc:sldMkLst>
        <pc:spChg chg="mod">
          <ac:chgData name="Mathieu Coustans" userId="e8619a91-88a5-4906-b918-1d2303beb8f3" providerId="ADAL" clId="{48ACE582-5BA5-4FB2-9BCA-EBC728FB82BF}" dt="2025-05-26T06:43:14.132" v="50" actId="20577"/>
          <ac:spMkLst>
            <pc:docMk/>
            <pc:sldMk cId="2694949735" sldId="2147472796"/>
            <ac:spMk id="6" creationId="{D9F2C54F-D951-6B39-CEEB-8590911805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07.07.2025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07.07.2025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8166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 userDrawn="1"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8076" y="6223621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fld id="{E471F87F-7CC2-488B-AD55-33485FC98B76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287EEC27-B21C-02CA-ECBC-917FAECFB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076" y="5229000"/>
            <a:ext cx="5265300" cy="935263"/>
          </a:xfrm>
        </p:spPr>
        <p:txBody>
          <a:bodyPr anchor="b"/>
          <a:lstStyle>
            <a:lvl1pPr marL="0" indent="0">
              <a:buNone/>
              <a:defRPr sz="135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CH" sz="1350" dirty="0"/>
              <a:t>Vorname Name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CC97B3-B836-D6D6-7A42-566F071FE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117240"/>
            <a:ext cx="5265301" cy="1231106"/>
          </a:xfrm>
        </p:spPr>
        <p:txBody>
          <a:bodyPr wrap="square" anchor="t">
            <a:no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6EFFB021-AEC2-B428-A250-E8A8F8479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76" y="2926800"/>
            <a:ext cx="5265300" cy="1510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CH" noProof="0" dirty="0"/>
              <a:t>Untertitel </a:t>
            </a:r>
            <a:br>
              <a:rPr lang="de-CH" noProof="0" dirty="0"/>
            </a:br>
            <a:r>
              <a:rPr lang="de-CH" noProof="0" dirty="0"/>
              <a:t>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>
              <a:defRPr/>
            </a:lvl1pPr>
            <a:lvl3pPr marL="536575" indent="-268288">
              <a:defRPr/>
            </a:lvl3pPr>
          </a:lstStyle>
          <a:p>
            <a:pPr lvl="0"/>
            <a:r>
              <a:rPr lang="de-DE" dirty="0"/>
              <a:t>Inhalt hinzufügen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9AB9197-1220-80BD-481F-90A973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D173F40-185C-2ADF-A4DC-16363A32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0A1AFE9-5D1C-2846-D3BD-C3EFFEF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 userDrawn="1"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067524"/>
            <a:ext cx="10587038" cy="921613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23907732-924E-43E9-B4C2-6CF127C307E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181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>
            <a:lvl1pPr>
              <a:defRPr b="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 marL="270000" indent="-270000">
              <a:buFont typeface="+mj-lt"/>
              <a:buAutoNum type="arabicPeriod"/>
              <a:defRPr sz="2000"/>
            </a:lvl1pPr>
            <a:lvl2pPr marL="540000" indent="-270000">
              <a:buFont typeface="+mj-lt"/>
              <a:buAutoNum type="alphaLcPeriod"/>
              <a:defRPr sz="2000"/>
            </a:lvl2pPr>
            <a:lvl3pPr marL="810000" indent="-270000">
              <a:defRPr sz="2000"/>
            </a:lvl3pPr>
            <a:lvl4pPr marL="1080000" indent="-270000">
              <a:defRPr sz="2000"/>
            </a:lvl4pPr>
            <a:lvl5pPr marL="1350000" indent="-270000">
              <a:defRPr sz="20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5A94-05D5-4DEC-81F7-6AB426E292F4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983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08076" y="1989137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85979" y="1989138"/>
            <a:ext cx="5037671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79FA-DBB5-4713-9CD9-90401A466906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30175" y="1170372"/>
            <a:ext cx="5393475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30175" y="1989138"/>
            <a:ext cx="5393475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2A08-A377-47C6-B39F-B1E1F769F25A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9972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50400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08076" y="1989138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CE2-D1EA-49D7-88A5-9921AB788BF8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0131" y="846000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93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884AD1-A783-44E4-89C8-03B3CA1C81C1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300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167D-93E7-43CF-ADB7-181D413D4773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F1D7-D20B-4528-9E03-8B18AB702752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675502" y="1369296"/>
            <a:ext cx="10840997" cy="279179"/>
          </a:xfrm>
        </p:spPr>
        <p:txBody>
          <a:bodyPr/>
          <a:lstStyle>
            <a:lvl1pPr>
              <a:defRPr sz="1814" b="1" i="0" baseline="0"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16" name="Rechteck 15"/>
          <p:cNvSpPr/>
          <p:nvPr userDrawn="1"/>
        </p:nvSpPr>
        <p:spPr bwMode="auto">
          <a:xfrm>
            <a:off x="6194552" y="1976911"/>
            <a:ext cx="5321946" cy="200263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6194551" y="4197677"/>
            <a:ext cx="5321946" cy="200263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666169" y="4197676"/>
            <a:ext cx="5321946" cy="199175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666168" y="1976911"/>
            <a:ext cx="5321946" cy="199175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937950" y="2232273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6" name="Textplatzhalter 2"/>
          <p:cNvSpPr>
            <a:spLocks noGrp="1"/>
          </p:cNvSpPr>
          <p:nvPr>
            <p:ph type="body" sz="quarter" idx="29" hasCustomPrompt="1"/>
          </p:nvPr>
        </p:nvSpPr>
        <p:spPr>
          <a:xfrm>
            <a:off x="6481971" y="2232273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7" name="Textplatzhalter 2"/>
          <p:cNvSpPr>
            <a:spLocks noGrp="1"/>
          </p:cNvSpPr>
          <p:nvPr>
            <p:ph type="body" sz="quarter" idx="30" hasCustomPrompt="1"/>
          </p:nvPr>
        </p:nvSpPr>
        <p:spPr>
          <a:xfrm>
            <a:off x="937950" y="4408662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8" name="Textplatzhalter 2"/>
          <p:cNvSpPr>
            <a:spLocks noGrp="1"/>
          </p:cNvSpPr>
          <p:nvPr>
            <p:ph type="body" sz="quarter" idx="31" hasCustomPrompt="1"/>
          </p:nvPr>
        </p:nvSpPr>
        <p:spPr>
          <a:xfrm>
            <a:off x="6481971" y="4408662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pic>
        <p:nvPicPr>
          <p:cNvPr id="12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574" y="304296"/>
            <a:ext cx="1290037" cy="33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00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 userDrawn="1"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0457" y="1170372"/>
            <a:ext cx="11006138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2"/>
            <a:r>
              <a:rPr lang="de-CH" noProof="0" dirty="0"/>
              <a:t>Ebene 2</a:t>
            </a:r>
          </a:p>
          <a:p>
            <a:pPr lvl="3"/>
            <a:r>
              <a:rPr lang="de-CH" noProof="0" dirty="0"/>
              <a:t>Ebene 3</a:t>
            </a:r>
          </a:p>
          <a:p>
            <a:pPr lvl="4"/>
            <a:r>
              <a:rPr lang="de-CH" noProof="0" dirty="0"/>
              <a:t>Ebene 4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fld id="{698FC4C5-3ADA-44FA-AF24-1DAFEB8AF652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 userDrawn="1"/>
        </p:nvSpPr>
        <p:spPr>
          <a:xfrm>
            <a:off x="9787386" y="6620400"/>
            <a:ext cx="1486542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 dirty="0"/>
              <a:t>www.fhnw.ch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2744D73-4AF0-A154-437F-3B480B65F5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52240" y="212400"/>
            <a:ext cx="1571760" cy="42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35EF8AA-ECD2-FB66-452B-C9B1534A4F0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13844" y="212400"/>
            <a:ext cx="441568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7" r:id="rId3"/>
    <p:sldLayoutId id="2147483668" r:id="rId4"/>
    <p:sldLayoutId id="2147483661" r:id="rId5"/>
    <p:sldLayoutId id="2147483669" r:id="rId6"/>
    <p:sldLayoutId id="2147483670" r:id="rId7"/>
    <p:sldLayoutId id="2147483665" r:id="rId8"/>
    <p:sldLayoutId id="2147483663" r:id="rId9"/>
    <p:sldLayoutId id="2147483664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68288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3" orient="horz" pos="3883" userDrawn="1">
          <p15:clr>
            <a:srgbClr val="A4A3A4"/>
          </p15:clr>
        </p15:guide>
        <p15:guide id="4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CDECF-27FA-E174-5AEA-9733D60C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FA439-CAC9-4573-B1B3-2D68157B76DD}" type="datetime3">
              <a:rPr lang="en-US" smtClean="0"/>
              <a:t>7 July 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0FC26-5ED0-B7E4-73CA-374A6F81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Sensors and Electronics</a:t>
            </a:r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0AC69-A660-5CF1-D826-639E9023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</a:t>
            </a:fld>
            <a:endParaRPr lang="de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C53306-E22D-7F2C-D8A5-C152C7A4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02" y="846768"/>
            <a:ext cx="10839186" cy="492443"/>
          </a:xfrm>
        </p:spPr>
        <p:txBody>
          <a:bodyPr/>
          <a:lstStyle/>
          <a:p>
            <a:r>
              <a:rPr lang="en-GB" dirty="0"/>
              <a:t>Expected Outcome of the Capstone project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F2C54F-D951-6B39-CEEB-859091180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75" y="1412776"/>
            <a:ext cx="11013193" cy="4751487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dirty="0"/>
              <a:t>The 12-minute presentation serves as a platform for students to showcase their capstone project, demonstrating their understanding, problem-solving abilities, and communication skills. The presentation should concisely cover the project’s key aspects, including the problem addressed, theoretical analysis, methodology, results, and conclusions.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700" b="1" dirty="0"/>
              <a:t>Suggested Presentation Structure (12 minutes Presentation + 8 minutes Q&amp;A)</a:t>
            </a:r>
          </a:p>
          <a:p>
            <a:pPr marL="0" indent="0">
              <a:buNone/>
            </a:pPr>
            <a:endParaRPr lang="en-US" sz="1700" b="1" dirty="0"/>
          </a:p>
          <a:p>
            <a:pPr>
              <a:buFont typeface="+mj-lt"/>
              <a:buAutoNum type="arabicPeriod"/>
            </a:pPr>
            <a:r>
              <a:rPr lang="en-US" sz="1700" b="1" dirty="0"/>
              <a:t>Introduction &amp; Problem Statement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Briefly explain the project’s purpose and relevance.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Theoretical Foundation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Discuss key theoretical concepts and methods used.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Practical Application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Showcase your implementation, challenges faced, and the results.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Future Work &amp; Conclusion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Share potential future applications, possible improvements, and a final summary.</a:t>
            </a:r>
          </a:p>
          <a:p>
            <a:pPr marL="673781" lvl="1" indent="-259147">
              <a:buFont typeface="+mj-lt"/>
              <a:buAutoNum type="arabicPeriod"/>
            </a:pPr>
            <a:endParaRPr lang="en-US" sz="1700" dirty="0"/>
          </a:p>
          <a:p>
            <a:pPr>
              <a:buFont typeface="+mj-lt"/>
              <a:buAutoNum type="arabicPeriod"/>
            </a:pPr>
            <a:r>
              <a:rPr lang="en-US" sz="1700" b="1" dirty="0"/>
              <a:t>Q&amp;A – Discussion (8 minutes)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9494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3ADAF5-4807-68FF-4D40-65438BF6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07.07.2025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55E460-25C6-3A25-5B4F-AAC2A569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DBB4E-FF89-DE17-7B80-A8E1AEC2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070260B-CF47-66A4-FC11-39A8B8E6AC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br>
              <a:rPr lang="de-CH" dirty="0"/>
            </a:br>
            <a:r>
              <a:rPr lang="de-CH" b="1" i="0" dirty="0">
                <a:solidFill>
                  <a:srgbClr val="252424"/>
                </a:solidFill>
                <a:effectLst/>
                <a:latin typeface="Segoe UI" panose="020B0502040204020203" pitchFamily="34" charset="0"/>
              </a:rPr>
              <a:t>Florian Meier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878F171-5CBB-F640-B0CE-CE00CC157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1800" dirty="0">
                <a:solidFill>
                  <a:srgbClr val="000000"/>
                </a:solidFill>
                <a:latin typeface="Arial" panose="020B0604020202020204" pitchFamily="34" charset="0"/>
              </a:rPr>
              <a:t>Project 4: KALM</a:t>
            </a:r>
            <a:endParaRPr lang="de-CH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B99FC38A-260C-7A9B-B4EB-E0CE48028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  <a:p>
            <a:r>
              <a:rPr lang="de-CH" dirty="0"/>
              <a:t>Modulschlussprüfungen</a:t>
            </a:r>
          </a:p>
          <a:p>
            <a:endParaRPr lang="de-CH" dirty="0"/>
          </a:p>
          <a:p>
            <a:r>
              <a:rPr lang="de-CH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Digital Communication (</a:t>
            </a:r>
            <a:r>
              <a:rPr lang="de-CH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dcom</a:t>
            </a:r>
            <a:r>
              <a:rPr lang="de-CH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	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20AF595-AEB1-03C8-4CE7-938F5F4D7FA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5402" r="15402"/>
          <a:stretch/>
        </p:blipFill>
        <p:spPr>
          <a:xfrm>
            <a:off x="6102350" y="850900"/>
            <a:ext cx="5324475" cy="6007100"/>
          </a:xfrm>
        </p:spPr>
      </p:pic>
    </p:spTree>
    <p:extLst>
      <p:ext uri="{BB962C8B-B14F-4D97-AF65-F5344CB8AC3E}">
        <p14:creationId xmlns:p14="http://schemas.microsoft.com/office/powerpoint/2010/main" val="24650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A184-2A3A-FD41-16D9-8C07D724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02" y="1369405"/>
            <a:ext cx="10840997" cy="4857740"/>
          </a:xfrm>
        </p:spPr>
        <p:txBody>
          <a:bodyPr/>
          <a:lstStyle/>
          <a:p>
            <a:r>
              <a:rPr lang="de-CH" dirty="0"/>
              <a:t>Outline</a:t>
            </a:r>
            <a:br>
              <a:rPr lang="de-CH" dirty="0"/>
            </a:br>
            <a:r>
              <a:rPr lang="en-US" sz="1270" dirty="0"/>
              <a:t>Subtitle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de-CH" sz="127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C3D8-1BA4-FACC-1CDB-B01CF1433E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950" y="2232336"/>
            <a:ext cx="4501128" cy="1523200"/>
          </a:xfrm>
        </p:spPr>
        <p:txBody>
          <a:bodyPr/>
          <a:lstStyle/>
          <a:p>
            <a:r>
              <a:rPr lang="en-GB" dirty="0"/>
              <a:t>I - Introduction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The problem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What is a Kalman filter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1B610-C9DB-5310-CC21-081DFDB976F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81971" y="2232336"/>
            <a:ext cx="4501128" cy="1523200"/>
          </a:xfrm>
        </p:spPr>
        <p:txBody>
          <a:bodyPr/>
          <a:lstStyle/>
          <a:p>
            <a:r>
              <a:rPr lang="en-GB" dirty="0"/>
              <a:t>III – Practical Application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The tracking of a moving car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The effects of convergence parameters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AE0B3-F622-B7CA-8462-B506671BBC1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7950" y="4408612"/>
            <a:ext cx="4501128" cy="1632677"/>
          </a:xfrm>
        </p:spPr>
        <p:txBody>
          <a:bodyPr/>
          <a:lstStyle/>
          <a:p>
            <a:r>
              <a:rPr lang="en-GB" dirty="0"/>
              <a:t>II – Theoretical Foundation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Kalman Filter: Functionality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Kalman Filter: Convergence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AB47B-157D-E2BF-B8E5-19E4698619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81971" y="4408612"/>
            <a:ext cx="4501128" cy="1632677"/>
          </a:xfrm>
        </p:spPr>
        <p:txBody>
          <a:bodyPr/>
          <a:lstStyle/>
          <a:p>
            <a:r>
              <a:rPr lang="en-GB" dirty="0"/>
              <a:t>IV - Conclusion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Challenges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Future Work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0960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4E1EA-02B4-7F38-6C0A-51F6DF90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Introduction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C133-1CA9-9624-500C-643C2D59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1303-11F6-226E-65C0-E1943DC2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8E12-59F9-8BFB-ADC4-E49823E7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08443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01FFD-0542-B6DE-2815-2259422C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problem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CBAB51-05BC-A82E-6967-52123408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CH" dirty="0"/>
              <a:t>Sensor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consisting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random</a:t>
            </a:r>
            <a:r>
              <a:rPr lang="de-CH" dirty="0"/>
              <a:t> </a:t>
            </a:r>
            <a:r>
              <a:rPr lang="de-CH" dirty="0" err="1"/>
              <a:t>movement</a:t>
            </a:r>
            <a:endParaRPr lang="de-CH" dirty="0"/>
          </a:p>
          <a:p>
            <a:pPr lvl="2">
              <a:buFontTx/>
              <a:buChar char="-"/>
            </a:pPr>
            <a:r>
              <a:rPr lang="de-CH" dirty="0" err="1"/>
              <a:t>Example</a:t>
            </a:r>
            <a:r>
              <a:rPr lang="de-CH" dirty="0"/>
              <a:t>: Tracking a </a:t>
            </a:r>
            <a:r>
              <a:rPr lang="de-CH" dirty="0" err="1"/>
              <a:t>driving</a:t>
            </a:r>
            <a:r>
              <a:rPr lang="de-CH" dirty="0"/>
              <a:t> </a:t>
            </a:r>
            <a:r>
              <a:rPr lang="de-CH" dirty="0" err="1"/>
              <a:t>car</a:t>
            </a:r>
            <a:endParaRPr lang="de-CH" dirty="0"/>
          </a:p>
          <a:p>
            <a:pPr>
              <a:buFontTx/>
              <a:buChar char="-"/>
            </a:pPr>
            <a:r>
              <a:rPr lang="de-CH" dirty="0"/>
              <a:t>Signal </a:t>
            </a:r>
            <a:r>
              <a:rPr lang="de-CH" dirty="0" err="1"/>
              <a:t>heavily</a:t>
            </a:r>
            <a:r>
              <a:rPr lang="de-CH" dirty="0"/>
              <a:t> </a:t>
            </a:r>
            <a:r>
              <a:rPr lang="de-CH" dirty="0" err="1"/>
              <a:t>influenced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varying</a:t>
            </a:r>
            <a:r>
              <a:rPr lang="de-CH" dirty="0"/>
              <a:t> </a:t>
            </a:r>
            <a:r>
              <a:rPr lang="de-CH" dirty="0" err="1"/>
              <a:t>noise</a:t>
            </a:r>
            <a:endParaRPr lang="de-CH" dirty="0"/>
          </a:p>
          <a:p>
            <a:pPr lvl="2">
              <a:buFontTx/>
              <a:buChar char="-"/>
            </a:pPr>
            <a:r>
              <a:rPr lang="de-CH" dirty="0" err="1"/>
              <a:t>Weather</a:t>
            </a:r>
            <a:r>
              <a:rPr lang="de-CH" dirty="0"/>
              <a:t>, </a:t>
            </a:r>
            <a:r>
              <a:rPr lang="de-CH" dirty="0" err="1"/>
              <a:t>electromagnetic</a:t>
            </a:r>
            <a:r>
              <a:rPr lang="de-CH" dirty="0"/>
              <a:t> </a:t>
            </a:r>
            <a:r>
              <a:rPr lang="de-CH" dirty="0" err="1"/>
              <a:t>pollution</a:t>
            </a:r>
            <a:endParaRPr lang="de-CH" dirty="0"/>
          </a:p>
          <a:p>
            <a:pPr marL="268287" lvl="2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b="1" dirty="0" err="1"/>
              <a:t>How</a:t>
            </a:r>
            <a:r>
              <a:rPr lang="de-CH" b="1" dirty="0"/>
              <a:t> do </a:t>
            </a:r>
            <a:r>
              <a:rPr lang="de-CH" b="1" dirty="0" err="1"/>
              <a:t>you</a:t>
            </a:r>
            <a:r>
              <a:rPr lang="de-CH" b="1" dirty="0"/>
              <a:t> </a:t>
            </a:r>
            <a:r>
              <a:rPr lang="de-CH" b="1" dirty="0" err="1"/>
              <a:t>get</a:t>
            </a:r>
            <a:r>
              <a:rPr lang="de-CH" b="1" dirty="0"/>
              <a:t> a </a:t>
            </a:r>
            <a:r>
              <a:rPr lang="de-CH" b="1" dirty="0" err="1"/>
              <a:t>consistenly</a:t>
            </a:r>
            <a:r>
              <a:rPr lang="de-CH" b="1" dirty="0"/>
              <a:t> </a:t>
            </a:r>
            <a:r>
              <a:rPr lang="de-CH" b="1" dirty="0" err="1"/>
              <a:t>clear</a:t>
            </a:r>
            <a:r>
              <a:rPr lang="de-CH" b="1" dirty="0"/>
              <a:t> </a:t>
            </a:r>
            <a:r>
              <a:rPr lang="de-CH" b="1" dirty="0" err="1"/>
              <a:t>reading</a:t>
            </a:r>
            <a:r>
              <a:rPr lang="de-CH" b="1" dirty="0"/>
              <a:t> </a:t>
            </a:r>
            <a:r>
              <a:rPr lang="de-CH" b="1" dirty="0" err="1"/>
              <a:t>of</a:t>
            </a:r>
            <a:r>
              <a:rPr lang="de-CH" b="1" dirty="0"/>
              <a:t> </a:t>
            </a:r>
            <a:r>
              <a:rPr lang="de-CH" b="1" dirty="0" err="1"/>
              <a:t>the</a:t>
            </a:r>
            <a:r>
              <a:rPr lang="de-CH" b="1" dirty="0"/>
              <a:t> </a:t>
            </a:r>
            <a:r>
              <a:rPr lang="de-CH" b="1" dirty="0" err="1"/>
              <a:t>actual</a:t>
            </a:r>
            <a:r>
              <a:rPr lang="de-CH" b="1" dirty="0"/>
              <a:t> </a:t>
            </a:r>
            <a:r>
              <a:rPr lang="de-CH" b="1" dirty="0" err="1"/>
              <a:t>values</a:t>
            </a:r>
            <a:r>
              <a:rPr lang="de-CH" b="1" dirty="0"/>
              <a:t>?</a:t>
            </a:r>
          </a:p>
          <a:p>
            <a:pPr>
              <a:buFontTx/>
              <a:buChar char="-"/>
            </a:pP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3CA4AC-89A9-BF0E-8DD0-79D4755B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BF47-BFE4-482E-ACDC-02638A5F301F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FC0048-8167-9A51-5454-DF4C7680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64D8B-36D7-D781-6795-2FA0B225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2545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45673-39FA-9D99-0E7E-BBA9BFA5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1ECB0B-DFDF-5CAE-6895-C9BE0802F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Kalman filter</a:t>
            </a:r>
            <a:r>
              <a:rPr lang="en-US" dirty="0"/>
              <a:t>(also known as </a:t>
            </a:r>
            <a:r>
              <a:rPr lang="en-US" b="1" dirty="0"/>
              <a:t>linear quadratic estimation)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is a Kalman filter?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Kalman filter combines:</a:t>
            </a:r>
          </a:p>
          <a:p>
            <a:pPr marL="0" indent="0">
              <a:buNone/>
            </a:pPr>
            <a:r>
              <a:rPr lang="en-US" dirty="0"/>
              <a:t>A model how the system evolves over time</a:t>
            </a:r>
          </a:p>
          <a:p>
            <a:pPr marL="0" indent="0">
              <a:buNone/>
            </a:pPr>
            <a:r>
              <a:rPr lang="en-US" dirty="0"/>
              <a:t>A model of how observations relate to the system </a:t>
            </a:r>
          </a:p>
          <a:p>
            <a:pPr marL="0" indent="0">
              <a:buNone/>
            </a:pPr>
            <a:r>
              <a:rPr lang="en-US" dirty="0"/>
              <a:t>Noisy observations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estimate the true state of a system over time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160A36-06A6-0331-F1AF-AD864511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9A8952-F825-FA1B-F385-CC86C029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772E28-818C-3624-5C1E-97C19280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3530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DDE8-16C8-D3E4-DD0E-3C66ACB5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169A84-5FC1-FD1C-1000-EED6B1F7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Theoretical</a:t>
            </a:r>
            <a:r>
              <a:rPr lang="de-CH" dirty="0"/>
              <a:t> </a:t>
            </a:r>
            <a:r>
              <a:rPr lang="de-CH" dirty="0" err="1"/>
              <a:t>Foundation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D7B7E-D78C-A23E-D0E8-50C5745E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D5946-4671-F2B5-80DA-780F875D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320D-AB32-08FC-F310-5C59DBC4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7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48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AF527-EDBF-0FEE-66D0-2A7838D9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984885"/>
          </a:xfrm>
        </p:spPr>
        <p:txBody>
          <a:bodyPr/>
          <a:lstStyle/>
          <a:p>
            <a:r>
              <a:rPr lang="en-GB" dirty="0"/>
              <a:t>Kalman Filter: Functionality</a:t>
            </a:r>
            <a:br>
              <a:rPr lang="en-GB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76E29A1-0F4B-F074-37FB-99D6DF9D6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377" y="2060848"/>
            <a:ext cx="7939151" cy="403308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41729A-015F-0450-4AD3-D7187D0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94DDDE-161B-49DB-D3B1-31C2DC5D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A5A8D4-AA43-C975-718B-E62A9EC0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90914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1D849-202A-5FBF-393C-17A8293C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Kalman Filter: Convergence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D21041-A1CD-8C6E-6D72-C180E1CE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Measurement Noise </a:t>
            </a:r>
            <a:r>
              <a:rPr lang="de-CH" dirty="0" err="1"/>
              <a:t>Covariance</a:t>
            </a:r>
            <a:r>
              <a:rPr lang="de-CH" dirty="0"/>
              <a:t> (R)</a:t>
            </a:r>
          </a:p>
          <a:p>
            <a:pPr lvl="2"/>
            <a:r>
              <a:rPr lang="en-US" dirty="0"/>
              <a:t>Higher R → Trust the measurement less</a:t>
            </a:r>
          </a:p>
          <a:p>
            <a:pPr lvl="2"/>
            <a:r>
              <a:rPr lang="en-US" dirty="0"/>
              <a:t>Lower R → Trust the measurement more</a:t>
            </a:r>
          </a:p>
          <a:p>
            <a:pPr marL="268287" lvl="2" indent="0">
              <a:buNone/>
            </a:pPr>
            <a:endParaRPr lang="en-US" dirty="0"/>
          </a:p>
          <a:p>
            <a:r>
              <a:rPr lang="en-US" dirty="0"/>
              <a:t>Process Noise Covariance (Q)</a:t>
            </a:r>
          </a:p>
          <a:p>
            <a:pPr lvl="2"/>
            <a:r>
              <a:rPr lang="en-US" dirty="0"/>
              <a:t>Higher Q → Trust the model less, adapt faster to changes</a:t>
            </a:r>
          </a:p>
          <a:p>
            <a:pPr lvl="2"/>
            <a:r>
              <a:rPr lang="en-US" dirty="0"/>
              <a:t>Lower Q → Trust the model more, respond slower</a:t>
            </a:r>
          </a:p>
          <a:p>
            <a:pPr marL="268287" lvl="2" indent="0">
              <a:buNone/>
            </a:pPr>
            <a:endParaRPr lang="en-US" dirty="0"/>
          </a:p>
          <a:p>
            <a:r>
              <a:rPr lang="en-US" dirty="0"/>
              <a:t>Initial State Estimate (x₀) and Error Covariance (P₀)</a:t>
            </a:r>
          </a:p>
          <a:p>
            <a:pPr lvl="2"/>
            <a:r>
              <a:rPr lang="en-US" dirty="0"/>
              <a:t>Set </a:t>
            </a:r>
            <a:r>
              <a:rPr lang="en-US" b="1" dirty="0"/>
              <a:t>x₀</a:t>
            </a:r>
            <a:r>
              <a:rPr lang="en-US" dirty="0"/>
              <a:t> as close as possible to the true state</a:t>
            </a:r>
          </a:p>
          <a:p>
            <a:pPr lvl="2"/>
            <a:r>
              <a:rPr lang="en-US" dirty="0"/>
              <a:t>Set </a:t>
            </a:r>
            <a:r>
              <a:rPr lang="en-US" b="1" dirty="0"/>
              <a:t>P₀</a:t>
            </a:r>
            <a:r>
              <a:rPr lang="en-US" dirty="0"/>
              <a:t> high if uncertain about the initial estimate or low if confident</a:t>
            </a:r>
          </a:p>
          <a:p>
            <a:pPr marL="268287" lvl="2" indent="0">
              <a:buNone/>
            </a:pP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38D4AB-9406-218C-F5AD-36FD52CB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A54760-4EC6-3AEE-7F38-A85D654A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08CB22-4DA5-1FCC-53A1-B962D9AB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8236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0B466-77E3-4FF4-A2CC-5CF0B67A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33FCC-ECB3-128F-97F7-8DA4EE11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Kalman Filter: Convergence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A8A5AE-871F-FE0D-99B5-3ED66C2A6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7" lvl="2" indent="0">
              <a:buNone/>
            </a:pPr>
            <a:r>
              <a:rPr lang="en-US" dirty="0"/>
              <a:t>How do you adjust your filter to the use case and improve convergence?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/>
              <a:t>Adjust key parameters strategically</a:t>
            </a:r>
          </a:p>
          <a:p>
            <a:pPr lvl="3">
              <a:buFont typeface="Symbol" panose="05050102010706020507" pitchFamily="18" charset="2"/>
              <a:buChar char="-"/>
            </a:pPr>
            <a:endParaRPr lang="en-US" dirty="0"/>
          </a:p>
          <a:p>
            <a:pPr marL="540125" lvl="3" indent="0">
              <a:buNone/>
            </a:pPr>
            <a:r>
              <a:rPr lang="en-US" dirty="0"/>
              <a:t>	1. Start with high Error Covariance(P₀) to let the filter adapt fast</a:t>
            </a:r>
          </a:p>
          <a:p>
            <a:pPr marL="540125" lvl="3" indent="0">
              <a:buNone/>
            </a:pPr>
            <a:r>
              <a:rPr lang="en-US" dirty="0"/>
              <a:t>	2. Set </a:t>
            </a:r>
            <a:r>
              <a:rPr lang="de-CH" dirty="0"/>
              <a:t>Measurement Noise </a:t>
            </a:r>
            <a:r>
              <a:rPr lang="de-CH" dirty="0" err="1"/>
              <a:t>Covariance</a:t>
            </a:r>
            <a:r>
              <a:rPr lang="de-CH" dirty="0"/>
              <a:t> (</a:t>
            </a:r>
            <a:r>
              <a:rPr lang="en-US" dirty="0"/>
              <a:t>R) according to sensor specs</a:t>
            </a:r>
          </a:p>
          <a:p>
            <a:pPr marL="540125" lvl="3" indent="0">
              <a:buNone/>
            </a:pPr>
            <a:r>
              <a:rPr lang="en-US" dirty="0"/>
              <a:t>	3. Start with small Process Noise </a:t>
            </a:r>
            <a:r>
              <a:rPr lang="en-US" dirty="0" err="1"/>
              <a:t>Covarince</a:t>
            </a:r>
            <a:r>
              <a:rPr lang="en-US" dirty="0"/>
              <a:t> (Q), increase until responsive but stable</a:t>
            </a:r>
          </a:p>
          <a:p>
            <a:pPr marL="540125" lvl="3" indent="0">
              <a:buNone/>
            </a:pPr>
            <a:r>
              <a:rPr lang="en-US" dirty="0"/>
              <a:t>	4. Analyze convergence by observing how fast estimates stabilize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73621F-5AB2-A332-107D-927699B7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B3EF63-BB88-5D47-0168-717E913B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46A41D-135B-9537-BC0F-21E20A31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10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5270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D863-CB19-152D-3D9B-96C1524D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5C7CE6-2846-4183-76DD-14B814A5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Application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31B73-F393-DEA6-CE94-B9FA8FC4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638B-148C-7BE4-EF86-7CE35839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9652-FE3E-6095-DA26-6CF2205A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3630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67FB-471E-5C5F-DA45-27260C2A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A3001-7A37-FFB6-08A8-4932B91E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1477328"/>
          </a:xfrm>
        </p:spPr>
        <p:txBody>
          <a:bodyPr/>
          <a:lstStyle/>
          <a:p>
            <a:r>
              <a:rPr lang="en-US" dirty="0"/>
              <a:t>The tracking of a moving car</a:t>
            </a:r>
            <a:br>
              <a:rPr lang="en-US" dirty="0"/>
            </a:br>
            <a:br>
              <a:rPr lang="en-GB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35E22B-9BA6-1B05-AEF4-9FB72D6C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950976-4830-F01D-180E-830E7ED4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589C2F-A998-8719-E529-4C816C7E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9A94A04-B7EF-88C3-C9F5-61B67B52C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The tracking of a moving car by GPS sensor was simulated and filtered with a Kalman filter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6000" dirty="0"/>
              <a:t>Code showcase</a:t>
            </a:r>
          </a:p>
        </p:txBody>
      </p:sp>
    </p:spTree>
    <p:extLst>
      <p:ext uri="{BB962C8B-B14F-4D97-AF65-F5344CB8AC3E}">
        <p14:creationId xmlns:p14="http://schemas.microsoft.com/office/powerpoint/2010/main" val="251852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AFAB4-43BF-5CFD-A8CD-1EEFFDBB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1477328"/>
          </a:xfrm>
        </p:spPr>
        <p:txBody>
          <a:bodyPr/>
          <a:lstStyle/>
          <a:p>
            <a:r>
              <a:rPr lang="en-GB" dirty="0"/>
              <a:t>The effects of convergence parameters</a:t>
            </a:r>
            <a:br>
              <a:rPr lang="en-GB" dirty="0"/>
            </a:br>
            <a:r>
              <a:rPr lang="en-GB" dirty="0"/>
              <a:t>Balanced: Q=1e-4 R=0.01</a:t>
            </a:r>
            <a:br>
              <a:rPr lang="en-GB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8D6817-A817-E40D-BFBC-3AE470FD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6D928-AA25-E6A1-BFD7-2A87DCA5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57C1D9-B6AF-9A64-18D0-AE2C6193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61AE5C-F56B-2005-3BA1-E493108C9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3CD848E-79DD-E9B8-A308-A316A987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749391F-1201-78F6-6D42-42B92E0DB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g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8" descr="Bild">
            <a:extLst>
              <a:ext uri="{FF2B5EF4-FFF2-40B4-BE49-F238E27FC236}">
                <a16:creationId xmlns:a16="http://schemas.microsoft.com/office/drawing/2014/main" id="{5BEE20D4-B1AB-47E2-A6DB-ADAF830164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Bild">
            <a:extLst>
              <a:ext uri="{FF2B5EF4-FFF2-40B4-BE49-F238E27FC236}">
                <a16:creationId xmlns:a16="http://schemas.microsoft.com/office/drawing/2014/main" id="{A1D0A69A-CC9C-31CF-C04C-01B2A0547A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2" descr="Bild">
            <a:extLst>
              <a:ext uri="{FF2B5EF4-FFF2-40B4-BE49-F238E27FC236}">
                <a16:creationId xmlns:a16="http://schemas.microsoft.com/office/drawing/2014/main" id="{8F12CB25-8F4C-6B98-A1E5-6E64A13115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98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6" descr="Bild">
            <a:extLst>
              <a:ext uri="{FF2B5EF4-FFF2-40B4-BE49-F238E27FC236}">
                <a16:creationId xmlns:a16="http://schemas.microsoft.com/office/drawing/2014/main" id="{FD8A572C-F069-7FA6-0962-541258F18D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391A07AC-197B-B186-8DA0-A5217CD1F5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044" y="2343107"/>
            <a:ext cx="4690724" cy="1822462"/>
          </a:xfrm>
          <a:prstGeom prst="rect">
            <a:avLst/>
          </a:prstGeom>
        </p:spPr>
      </p:pic>
      <p:sp>
        <p:nvSpPr>
          <p:cNvPr id="16" name="AutoShape 12">
            <a:extLst>
              <a:ext uri="{FF2B5EF4-FFF2-40B4-BE49-F238E27FC236}">
                <a16:creationId xmlns:a16="http://schemas.microsoft.com/office/drawing/2014/main" id="{9D0D62D9-51AA-E3D3-E766-56E2EA580B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2526D67-9BDE-42C5-B686-83C42C526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260" y="1966139"/>
            <a:ext cx="6092132" cy="236999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BF51747-0EAD-A440-2C09-B33F9FB4B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84" y="4384352"/>
            <a:ext cx="5104515" cy="1959098"/>
          </a:xfrm>
          <a:prstGeom prst="rect">
            <a:avLst/>
          </a:prstGeom>
        </p:spPr>
      </p:pic>
      <p:sp>
        <p:nvSpPr>
          <p:cNvPr id="19" name="AutoShape 14">
            <a:extLst>
              <a:ext uri="{FF2B5EF4-FFF2-40B4-BE49-F238E27FC236}">
                <a16:creationId xmlns:a16="http://schemas.microsoft.com/office/drawing/2014/main" id="{F917EF4B-48E4-FB60-CE40-D2B96D682B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CD833911-9A60-1C0B-A55F-660A846E6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971" y="4336133"/>
            <a:ext cx="5536505" cy="214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0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8A24-0095-41A3-4259-CF919853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D5D48-815B-183B-FA13-DB5F8D1D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1477328"/>
          </a:xfrm>
        </p:spPr>
        <p:txBody>
          <a:bodyPr/>
          <a:lstStyle/>
          <a:p>
            <a:r>
              <a:rPr lang="en-GB" dirty="0"/>
              <a:t>The effects of convergence parameters</a:t>
            </a:r>
            <a:br>
              <a:rPr lang="en-GB" dirty="0"/>
            </a:br>
            <a:r>
              <a:rPr lang="en-GB" dirty="0"/>
              <a:t>Trust Model More: Q=1e-5 R=0.01</a:t>
            </a:r>
            <a:br>
              <a:rPr lang="en-GB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28C546-A0C8-1EF1-F9F7-55D843C66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B8A07-3149-878B-D522-182AB103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7260B-6DAF-80B2-7B0F-26174203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A2CD13-7ACD-0648-EBDC-A1112DEB1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0C0F22B-7FED-1286-FDA8-65CEB9A76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7A2CA3-441E-57B5-F3A2-351D6BD0E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g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8" descr="Bild">
            <a:extLst>
              <a:ext uri="{FF2B5EF4-FFF2-40B4-BE49-F238E27FC236}">
                <a16:creationId xmlns:a16="http://schemas.microsoft.com/office/drawing/2014/main" id="{9CA72BCA-7E3A-0488-5E5B-0B7C167712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Bild">
            <a:extLst>
              <a:ext uri="{FF2B5EF4-FFF2-40B4-BE49-F238E27FC236}">
                <a16:creationId xmlns:a16="http://schemas.microsoft.com/office/drawing/2014/main" id="{89FAA9BB-89F7-05BC-FD3B-DDA66DF4CE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2" descr="Bild">
            <a:extLst>
              <a:ext uri="{FF2B5EF4-FFF2-40B4-BE49-F238E27FC236}">
                <a16:creationId xmlns:a16="http://schemas.microsoft.com/office/drawing/2014/main" id="{A63FA266-5500-71CF-0D07-DAFE23CE5E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98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6" descr="Bild">
            <a:extLst>
              <a:ext uri="{FF2B5EF4-FFF2-40B4-BE49-F238E27FC236}">
                <a16:creationId xmlns:a16="http://schemas.microsoft.com/office/drawing/2014/main" id="{C43FA505-8845-937B-2ED2-7CB106C042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213E9F4E-9A4F-F9D0-23FB-208BF35018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C7F24A98-4F0C-97CA-D353-988535C9D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Inhaltsplatzhalter 21">
            <a:extLst>
              <a:ext uri="{FF2B5EF4-FFF2-40B4-BE49-F238E27FC236}">
                <a16:creationId xmlns:a16="http://schemas.microsoft.com/office/drawing/2014/main" id="{8D1769F9-CFB7-09AE-C20D-AE58972FB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60" y="2308846"/>
            <a:ext cx="4734194" cy="184796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FF18EBA-2413-4216-A550-D907745A4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141709"/>
            <a:ext cx="5613276" cy="2164597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62F4734-CDE8-4985-A2D0-BD31DD9C6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4437112"/>
            <a:ext cx="4424207" cy="172315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D74F0049-CC50-7075-92B7-08941E67F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37" y="4367937"/>
            <a:ext cx="4533156" cy="174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4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64B5-9FD4-F8E7-7219-B0739520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E365F5-5159-78DB-9095-F1253763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1477328"/>
          </a:xfrm>
        </p:spPr>
        <p:txBody>
          <a:bodyPr/>
          <a:lstStyle/>
          <a:p>
            <a:r>
              <a:rPr lang="en-GB" dirty="0"/>
              <a:t>The effects of convergence parameters</a:t>
            </a:r>
            <a:br>
              <a:rPr lang="en-GB" dirty="0"/>
            </a:br>
            <a:r>
              <a:rPr lang="en-GB" dirty="0"/>
              <a:t>Trust measurement More: Q=1e-4 R=0.001</a:t>
            </a:r>
            <a:br>
              <a:rPr lang="en-GB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0576CF-921D-2429-3B5B-EEB803F5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8F16E8-0591-BB04-6B4F-57C1648B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C9FB1A-10E3-3C08-F685-E8DFDD10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80133CB-EA64-1A02-F9E0-170381A6C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435D42E-9593-C54A-A7C7-4F98D5F07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0870BC8-F8D4-0F9D-7F6E-5314E47D5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[12:07]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 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herit"/>
              </a:rPr>
              <a:t>     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g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8" descr="Bild">
            <a:extLst>
              <a:ext uri="{FF2B5EF4-FFF2-40B4-BE49-F238E27FC236}">
                <a16:creationId xmlns:a16="http://schemas.microsoft.com/office/drawing/2014/main" id="{C98C4F9D-E8DA-E4A8-BC16-8225727915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Bild">
            <a:extLst>
              <a:ext uri="{FF2B5EF4-FFF2-40B4-BE49-F238E27FC236}">
                <a16:creationId xmlns:a16="http://schemas.microsoft.com/office/drawing/2014/main" id="{557C90F9-05DD-F738-64AD-98F682CC3F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2" descr="Bild">
            <a:extLst>
              <a:ext uri="{FF2B5EF4-FFF2-40B4-BE49-F238E27FC236}">
                <a16:creationId xmlns:a16="http://schemas.microsoft.com/office/drawing/2014/main" id="{9C513C8F-21DA-EE5E-4BFC-BD1CD55492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98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6" descr="Bild">
            <a:extLst>
              <a:ext uri="{FF2B5EF4-FFF2-40B4-BE49-F238E27FC236}">
                <a16:creationId xmlns:a16="http://schemas.microsoft.com/office/drawing/2014/main" id="{1BB99A63-3AFA-4ED4-1B94-17BD6D44DD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125" y="-38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236E8BDC-BBB2-BFE6-2D69-A8E93C2934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25261259-5596-1AC9-3990-93F8ECF326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AB0C23F6-B95C-61C2-847E-E8BEC6751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911" y="6381328"/>
            <a:ext cx="11013193" cy="417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65E514FF-5204-7B8B-3840-AF74ED720E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BF50B71-F585-4D61-7D15-B5FA6D4D5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330921"/>
            <a:ext cx="4922879" cy="195141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143F020-DF02-3DDC-ACCA-20BB77EF9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940" y="2251396"/>
            <a:ext cx="5281140" cy="200423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5C60A4D4-266B-6A56-2984-018E20955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4365104"/>
            <a:ext cx="4470673" cy="168835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74DF068-7BF7-9DC4-DDCF-6E56A2969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55632"/>
            <a:ext cx="5281140" cy="20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64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A68C2-724C-629D-2532-E40E859B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1F6E147-5A0B-9B6D-2915-441E0599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98EC9-BE61-E317-84B6-50D11D0B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ACFB1-7D12-88AB-E540-C4404BF6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7F6D5-DD91-65E7-37A3-3FF6F6DD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81396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AFDD-599D-621B-C03E-E935E639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DDFD8-849E-C395-48CB-19439416A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984885"/>
          </a:xfrm>
        </p:spPr>
        <p:txBody>
          <a:bodyPr/>
          <a:lstStyle/>
          <a:p>
            <a:r>
              <a:rPr lang="en-GB" dirty="0"/>
              <a:t>Challenges</a:t>
            </a:r>
            <a:br>
              <a:rPr lang="en-GB" dirty="0"/>
            </a:b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D32A27-04F6-5A7B-FEBD-0D75CC89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376D4D-728E-941B-10EB-EACC2E79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FF9FF3-47C2-8087-4562-E4C0FB34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8460B99-1BE0-63A9-27E1-F76BCF1E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-Understanding the task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-Simulating an extended Kalman filter</a:t>
            </a:r>
          </a:p>
          <a:p>
            <a:pPr marL="0" indent="0">
              <a:buNone/>
            </a:pPr>
            <a:r>
              <a:rPr lang="en-US" dirty="0"/>
              <a:t>-Using a real sensor to compare the simulation with a real life scenario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4E23369-1919-DB76-8889-A107CA3315D3}"/>
              </a:ext>
            </a:extLst>
          </p:cNvPr>
          <p:cNvSpPr txBox="1">
            <a:spLocks/>
          </p:cNvSpPr>
          <p:nvPr/>
        </p:nvSpPr>
        <p:spPr>
          <a:xfrm>
            <a:off x="408074" y="2715100"/>
            <a:ext cx="11012400" cy="9848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Future work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3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F2742-70D0-CF37-2C65-08E28AF0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2FFED1-6256-8725-4286-0CED47BB2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Kalman filter is broadly usable for noisy signals that can be predicted by a model</a:t>
            </a:r>
          </a:p>
          <a:p>
            <a:r>
              <a:rPr lang="en-US" dirty="0"/>
              <a:t>The parameters have a big influence on the performance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95BA6A-5E75-7479-E22A-3943FCC0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A0ABD8-A0A1-1547-4917-5F4798FB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1A577B-D665-BEEF-3082-4DF62551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5000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13B1-D4D7-905C-33C4-BF16C7AB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D2A79B-3E71-F4B0-86B1-10B46BF36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25046-854E-FC73-EED2-AFCFFA10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ECA4-FCB7-F04A-77BC-FFCB4C8C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7A12-F7FC-6F21-3339-F322BAED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32369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01769-031A-6AC1-B050-ED247793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2B5B5-F5F5-8B34-02A6-4D1AB8BD2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Picture Page 8: https://en.wikipedia.org/wiki/Kalman_filter#:~:text=In%20statistics%20and%20control%20theory,those%20based%20on%20a%20single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6465A6-093E-A263-0F14-EE3E4769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07.07.2025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04D102-07BD-1C6D-8D3F-3C54E0CE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BC4C99-DDCC-460E-9CD0-A4B54021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20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87420019"/>
      </p:ext>
    </p:extLst>
  </p:cSld>
  <p:clrMapOvr>
    <a:masterClrMapping/>
  </p:clrMapOvr>
</p:sld>
</file>

<file path=ppt/theme/theme1.xml><?xml version="1.0" encoding="utf-8"?>
<a:theme xmlns:a="http://schemas.openxmlformats.org/drawingml/2006/main" name="FHNW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HTU-16x9-EN.potx" id="{C4C5A130-12B4-4BE0-AC26-69804186704D}" vid="{C54BC66A-4728-4581-B51C-2EAE5F846ED5}"/>
    </a:ext>
  </a:extLst>
</a:theme>
</file>

<file path=ppt/theme/theme2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ED5A2B-AA98-4E20-9ECF-6054E5AD6D36}">
  <we:reference id="ea375709-5511-4a7d-9ad9-0150d03e7fbe" version="3.4.0.0" store="EXCatalog" storeType="EXCatalog"/>
  <we:alternateReferences>
    <we:reference id="WA104380602" version="3.4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336E6A137EBA04CAA14C83E6B567E6E" ma:contentTypeVersion="4" ma:contentTypeDescription="Ein neues Dokument erstellen." ma:contentTypeScope="" ma:versionID="506964d69c7fa676f2673ca1c565f571">
  <xsd:schema xmlns:xsd="http://www.w3.org/2001/XMLSchema" xmlns:xs="http://www.w3.org/2001/XMLSchema" xmlns:p="http://schemas.microsoft.com/office/2006/metadata/properties" xmlns:ns2="5019f46e-7630-4c10-8bcc-ae747be1e2f1" targetNamespace="http://schemas.microsoft.com/office/2006/metadata/properties" ma:root="true" ma:fieldsID="6f33e12c5860b9710acc1ab8237e07cc" ns2:_="">
    <xsd:import namespace="5019f46e-7630-4c10-8bcc-ae747be1e2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9f46e-7630-4c10-8bcc-ae747be1e2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9077d15-72ed-4fec-bcfe-3472729e9195"/>
    <ds:schemaRef ds:uri="http://schemas.microsoft.com/office/2006/documentManagement/types"/>
    <ds:schemaRef ds:uri="http://purl.org/dc/terms/"/>
    <ds:schemaRef ds:uri="http://schemas.microsoft.com/office/infopath/2007/PartnerControls"/>
    <ds:schemaRef ds:uri="bc24777f-78b6-4f3c-a73a-d5fa08e4d53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3FC72E-3252-48C8-88DD-D79C2930A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19f46e-7630-4c10-8bcc-ae747be1e2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HTU-16x9-EN</Template>
  <TotalTime>0</TotalTime>
  <Words>841</Words>
  <Application>Microsoft Office PowerPoint</Application>
  <PresentationFormat>Breitbild</PresentationFormat>
  <Paragraphs>182</Paragraphs>
  <Slides>20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Arial</vt:lpstr>
      <vt:lpstr>Segoe UI</vt:lpstr>
      <vt:lpstr>Symbol</vt:lpstr>
      <vt:lpstr>FHNW</vt:lpstr>
      <vt:lpstr>Expected Outcome of the Capstone project </vt:lpstr>
      <vt:lpstr>Project 4: KALM</vt:lpstr>
      <vt:lpstr>Outline Subtitle                </vt:lpstr>
      <vt:lpstr>Introduction</vt:lpstr>
      <vt:lpstr>The problem</vt:lpstr>
      <vt:lpstr>The solution</vt:lpstr>
      <vt:lpstr>Theoretical Foundation</vt:lpstr>
      <vt:lpstr>Kalman Filter: Functionality </vt:lpstr>
      <vt:lpstr>Kalman Filter: Convergence</vt:lpstr>
      <vt:lpstr>Kalman Filter: Convergence</vt:lpstr>
      <vt:lpstr>Practical Application</vt:lpstr>
      <vt:lpstr>The tracking of a moving car  </vt:lpstr>
      <vt:lpstr>The effects of convergence parameters Balanced: Q=1e-4 R=0.01 </vt:lpstr>
      <vt:lpstr>The effects of convergence parameters Trust Model More: Q=1e-5 R=0.01 </vt:lpstr>
      <vt:lpstr>The effects of convergence parameters Trust measurement More: Q=1e-4 R=0.001 </vt:lpstr>
      <vt:lpstr>Conclusion</vt:lpstr>
      <vt:lpstr>Challenges </vt:lpstr>
      <vt:lpstr>Conclusion</vt:lpstr>
      <vt:lpstr>Discussion</vt:lpstr>
      <vt:lpstr>Sources</vt:lpstr>
    </vt:vector>
  </TitlesOfParts>
  <Company>Fachhochschule Nordwestschweiz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Mathieu Coustans</dc:creator>
  <dc:description/>
  <cp:lastModifiedBy>Florian.Meier</cp:lastModifiedBy>
  <cp:revision>5</cp:revision>
  <dcterms:created xsi:type="dcterms:W3CDTF">2025-05-07T12:30:30Z</dcterms:created>
  <dcterms:modified xsi:type="dcterms:W3CDTF">2025-07-07T10:18:13Z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0x010100F336E6A137EBA04CAA14C83E6B567E6E</vt:lpwstr>
  </property>
  <property fmtid="{D5CDD505-2E9C-101B-9397-08002B2CF9AE}" pid="3" name="MediaServiceImageTags">
    <vt:lpwstr/>
  </property>
</Properties>
</file>